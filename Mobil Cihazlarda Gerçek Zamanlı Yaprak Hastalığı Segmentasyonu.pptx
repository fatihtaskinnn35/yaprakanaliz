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Inter SemiBold" panose="020B0604020202020204" charset="0"/>
      <p:regular r:id="rId23"/>
      <p:bold r:id="rId24"/>
      <p:italic r:id="rId25"/>
      <p:boldItalic r:id="rId26"/>
    </p:embeddedFont>
    <p:embeddedFont>
      <p:font typeface="Plus Jakarta Sans" panose="020B0604020202020204" charset="-94"/>
      <p:regular r:id="rId27"/>
      <p:bold r:id="rId28"/>
      <p:italic r:id="rId29"/>
      <p:boldItalic r:id="rId30"/>
    </p:embeddedFont>
    <p:embeddedFont>
      <p:font typeface="Plus Jakarta Sans SemiBold" panose="020B0604020202020204" charset="-94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F0DD8B-5AD7-4359-BBE4-8B390856E7EA}">
  <a:tblStyle styleId="{FCF0DD8B-5AD7-4359-BBE4-8B390856E7E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microsoft.com/office/2016/11/relationships/changesInfo" Target="changesInfos/changesInfo1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h taşkın" userId="bc257258184b71cf" providerId="LiveId" clId="{4E96ED3C-853E-4F24-AC89-C2BD862C8A1F}"/>
    <pc:docChg chg="custSel modSld">
      <pc:chgData name="fatih taşkın" userId="bc257258184b71cf" providerId="LiveId" clId="{4E96ED3C-853E-4F24-AC89-C2BD862C8A1F}" dt="2026-06-24T09:15:15.394" v="10" actId="20577"/>
      <pc:docMkLst>
        <pc:docMk/>
      </pc:docMkLst>
      <pc:sldChg chg="delSp modSp mod">
        <pc:chgData name="fatih taşkın" userId="bc257258184b71cf" providerId="LiveId" clId="{4E96ED3C-853E-4F24-AC89-C2BD862C8A1F}" dt="2026-06-24T09:12:00.623" v="5" actId="478"/>
        <pc:sldMkLst>
          <pc:docMk/>
          <pc:sldMk cId="0" sldId="259"/>
        </pc:sldMkLst>
        <pc:spChg chg="del mod">
          <ac:chgData name="fatih taşkın" userId="bc257258184b71cf" providerId="LiveId" clId="{4E96ED3C-853E-4F24-AC89-C2BD862C8A1F}" dt="2026-06-24T09:12:00.623" v="5" actId="478"/>
          <ac:spMkLst>
            <pc:docMk/>
            <pc:sldMk cId="0" sldId="259"/>
            <ac:spMk id="133" creationId="{00000000-0000-0000-0000-000000000000}"/>
          </ac:spMkLst>
        </pc:spChg>
        <pc:spChg chg="mod">
          <ac:chgData name="fatih taşkın" userId="bc257258184b71cf" providerId="LiveId" clId="{4E96ED3C-853E-4F24-AC89-C2BD862C8A1F}" dt="2026-06-24T09:11:17.278" v="1" actId="1076"/>
          <ac:spMkLst>
            <pc:docMk/>
            <pc:sldMk cId="0" sldId="259"/>
            <ac:spMk id="135" creationId="{00000000-0000-0000-0000-000000000000}"/>
          </ac:spMkLst>
        </pc:spChg>
        <pc:spChg chg="mod">
          <ac:chgData name="fatih taşkın" userId="bc257258184b71cf" providerId="LiveId" clId="{4E96ED3C-853E-4F24-AC89-C2BD862C8A1F}" dt="2026-06-24T09:11:24.330" v="2" actId="1076"/>
          <ac:spMkLst>
            <pc:docMk/>
            <pc:sldMk cId="0" sldId="259"/>
            <ac:spMk id="137" creationId="{00000000-0000-0000-0000-000000000000}"/>
          </ac:spMkLst>
        </pc:spChg>
        <pc:spChg chg="mod">
          <ac:chgData name="fatih taşkın" userId="bc257258184b71cf" providerId="LiveId" clId="{4E96ED3C-853E-4F24-AC89-C2BD862C8A1F}" dt="2026-06-24T09:11:28.417" v="3" actId="1076"/>
          <ac:spMkLst>
            <pc:docMk/>
            <pc:sldMk cId="0" sldId="259"/>
            <ac:spMk id="139" creationId="{00000000-0000-0000-0000-000000000000}"/>
          </ac:spMkLst>
        </pc:spChg>
      </pc:sldChg>
      <pc:sldChg chg="modSp mod">
        <pc:chgData name="fatih taşkın" userId="bc257258184b71cf" providerId="LiveId" clId="{4E96ED3C-853E-4F24-AC89-C2BD862C8A1F}" dt="2026-06-24T09:13:24.842" v="6" actId="1076"/>
        <pc:sldMkLst>
          <pc:docMk/>
          <pc:sldMk cId="0" sldId="261"/>
        </pc:sldMkLst>
        <pc:spChg chg="mod">
          <ac:chgData name="fatih taşkın" userId="bc257258184b71cf" providerId="LiveId" clId="{4E96ED3C-853E-4F24-AC89-C2BD862C8A1F}" dt="2026-06-24T09:13:24.842" v="6" actId="1076"/>
          <ac:spMkLst>
            <pc:docMk/>
            <pc:sldMk cId="0" sldId="261"/>
            <ac:spMk id="171" creationId="{00000000-0000-0000-0000-000000000000}"/>
          </ac:spMkLst>
        </pc:spChg>
      </pc:sldChg>
      <pc:sldChg chg="modSp mod">
        <pc:chgData name="fatih taşkın" userId="bc257258184b71cf" providerId="LiveId" clId="{4E96ED3C-853E-4F24-AC89-C2BD862C8A1F}" dt="2026-06-24T09:15:15.394" v="10" actId="20577"/>
        <pc:sldMkLst>
          <pc:docMk/>
          <pc:sldMk cId="0" sldId="265"/>
        </pc:sldMkLst>
        <pc:spChg chg="mod">
          <ac:chgData name="fatih taşkın" userId="bc257258184b71cf" providerId="LiveId" clId="{4E96ED3C-853E-4F24-AC89-C2BD862C8A1F}" dt="2026-06-24T09:15:15.394" v="10" actId="20577"/>
          <ac:spMkLst>
            <pc:docMk/>
            <pc:sldMk cId="0" sldId="265"/>
            <ac:spMk id="225" creationId="{00000000-0000-0000-0000-000000000000}"/>
          </ac:spMkLst>
        </pc:spChg>
      </pc:sldChg>
      <pc:sldChg chg="modSp mod">
        <pc:chgData name="fatih taşkın" userId="bc257258184b71cf" providerId="LiveId" clId="{4E96ED3C-853E-4F24-AC89-C2BD862C8A1F}" dt="2026-06-24T09:09:10.765" v="0" actId="1076"/>
        <pc:sldMkLst>
          <pc:docMk/>
          <pc:sldMk cId="0" sldId="267"/>
        </pc:sldMkLst>
        <pc:spChg chg="mod">
          <ac:chgData name="fatih taşkın" userId="bc257258184b71cf" providerId="LiveId" clId="{4E96ED3C-853E-4F24-AC89-C2BD862C8A1F}" dt="2026-06-24T09:09:10.765" v="0" actId="1076"/>
          <ac:spMkLst>
            <pc:docMk/>
            <pc:sldMk cId="0" sldId="267"/>
            <ac:spMk id="2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2024211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0916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T.C. BANDIRMA ONYEDI EYLÜL ÜNIVERSITESI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2458491"/>
            <a:ext cx="11201400" cy="963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 Cihazlarda Gerçek Zamanlı Yaprak Hastalığı Segmentasyonu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660427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0916C"/>
                </a:solidFill>
                <a:latin typeface="Inter"/>
                <a:ea typeface="Inter"/>
                <a:cs typeface="Inter"/>
                <a:sym typeface="Inter"/>
              </a:rPr>
              <a:t>Pseudo-Spektral Analiz Tabanlı Karar Destek Sistemi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346227"/>
            <a:ext cx="10668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Proje Ekibi:</a:t>
            </a:r>
            <a:r>
              <a:rPr lang="en-US" sz="1200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Fatih Taşkın (2111504031), Hazan Ezgi Erçin (2311504299)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Danışman:</a:t>
            </a:r>
            <a:r>
              <a:rPr lang="en-US" sz="1200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Dr. Öğr. Üyesi Alpay Doruk • Haziran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00597"/>
            <a:ext cx="5143500" cy="2837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00597"/>
            <a:ext cx="5143500" cy="283785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04900" y="2743497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D6A4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Geleneksel Tarımın Zorlukları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1104900" y="3153072"/>
            <a:ext cx="4457700" cy="190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04900" y="3314997"/>
            <a:ext cx="44577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Tarımsal üretimdeki bitki hastalıkları ürün miktarını ve kalitesini doğrudan tehdit eder.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04900" y="3975794"/>
            <a:ext cx="44577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Mevcut tespit yöntemleri uzman gözlemine ya da yüksek maliyetli multispektral kameralara dayalıdır. Bu durum küçük üreticiler için erişilemez bir süreç yaratmaktadır.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2743497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D6A4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Mobil Karar Destek İhtiyacı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629400" y="3153072"/>
            <a:ext cx="4457700" cy="190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629400" y="3314997"/>
            <a:ext cx="44577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Masaüstü ve bulut tabanlı yapay zeka çözümleri yüksek internet hızı ve sunucu gücü gerektirmektedir.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3975794"/>
            <a:ext cx="44577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Sahada ek donanım gerektirmeden, anında ve yerel çalışan (on-device) taşınabilir karar destek sistemlerine duyulan ihtiyaç kritik düzeydedir.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Problemin Tanımı ve Önemi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330053"/>
            <a:ext cx="3365450" cy="2978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330053"/>
            <a:ext cx="3365450" cy="2978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330053"/>
            <a:ext cx="3365450" cy="297894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57275" y="3330178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B433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Segmentasyon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57275" y="3787378"/>
            <a:ext cx="277490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RGB yaprak görüntülerinin piksel düzeyinde semantik olarak sağlıklı doku, hastalıklı lezyon ve arka plan şeklinde ayrıştırılması.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08475" y="3330178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B433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Pseudo-NIR Tahmini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708475" y="3787378"/>
            <a:ext cx="277490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Ek donanım olmadan standart RGB kameralardan spektral analiz için yakın kızılötesi (NIR) bant kestiriminin gerçekleştirilmesi.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59675" y="3330178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B433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Mobil Optimizasyon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59675" y="3787378"/>
            <a:ext cx="277490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Uç cihazlarda internet bağlantısına ihtiyaç duymayan, TensorFlow Lite tabanlı hafif ve yüksek performanslı bir uygulama entegrasyonu.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7110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08475" y="271105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711053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Projenin Kapsamı ve Hedefleri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38387"/>
            <a:ext cx="514350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2488406"/>
            <a:ext cx="5143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PlantVillage Veri Seti:</a:t>
            </a: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Model, üç ana bitki kategorisinde derinlemesine etiketlenmiş görüntülerle eğitilmiştir.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3149203"/>
            <a:ext cx="51435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Üç Sınıflı Etiketleme Şeması: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57250" y="356151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85242" y="3498056"/>
            <a:ext cx="49530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Arka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Plan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382047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85242" y="3765412"/>
            <a:ext cx="49530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Sağlıklı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Yaprak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Dokusu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407943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85242" y="4039730"/>
            <a:ext cx="49530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Hastalıklı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Bölge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Lezyonlar</a:t>
            </a:r>
            <a:endParaRPr dirty="0"/>
          </a:p>
        </p:txBody>
      </p:sp>
      <p:graphicFrame>
        <p:nvGraphicFramePr>
          <p:cNvPr id="140" name="Google Shape;140;p16"/>
          <p:cNvGraphicFramePr/>
          <p:nvPr/>
        </p:nvGraphicFramePr>
        <p:xfrm>
          <a:off x="6286500" y="2338387"/>
          <a:ext cx="5143500" cy="2962250"/>
        </p:xfrm>
        <a:graphic>
          <a:graphicData uri="http://schemas.openxmlformats.org/drawingml/2006/table">
            <a:tbl>
              <a:tblPr firstRow="1" bandRow="1">
                <a:noFill/>
                <a:tableStyleId>{FCF0DD8B-5AD7-4359-BBE4-8B390856E7EA}</a:tableStyleId>
              </a:tblPr>
              <a:tblGrid>
                <a:gridCol w="250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Kategori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Görüntü Sayısı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D374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Elma (Apple)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D374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1006 Görüntü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D374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Mısır (Corn)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D374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1000 Görüntü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D374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Üzüm (Grape)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D374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1008 Görüntü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D374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Toplam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D374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3014 Görüntü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1" name="Google Shape;141;p16"/>
          <p:cNvSpPr/>
          <p:nvPr/>
        </p:nvSpPr>
        <p:spPr>
          <a:xfrm>
            <a:off x="6286500" y="3524250"/>
            <a:ext cx="2509242" cy="9525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795742" y="3524250"/>
            <a:ext cx="2634257" cy="9525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286500" y="4114800"/>
            <a:ext cx="2509242" cy="9525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8795742" y="4114800"/>
            <a:ext cx="2634257" cy="9525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286500" y="4705350"/>
            <a:ext cx="2509242" cy="9525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795742" y="4705350"/>
            <a:ext cx="2634257" cy="9525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 Seti Dağılımı ve Etiketleme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62000" y="2358925"/>
            <a:ext cx="51435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Encoder-Decoder &amp; Skip Connections: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62000" y="2775862"/>
            <a:ext cx="95781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U-Net mimarisinin mekansal koruma avantajı kullanılarak ağ derinliği ve filtre boyutları mobil performansa uygun olacak şekilde hafifletilmiştir.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3680519"/>
            <a:ext cx="51435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Performans Odaklı Tasarım: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57250" y="409283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52500" y="4123315"/>
            <a:ext cx="78288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Boyut küçültmek amacıyla daha az evrişim katmanı kullanılmıştır.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57250" y="4610754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52500" y="4617725"/>
            <a:ext cx="7086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Doğruluk kaybını minimum seviyede tutarken bellek tüketiminde kritik avantaj sağlanmıştır.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Hafifletilmiş U-Net Mimarisi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4500" y="2200275"/>
            <a:ext cx="32385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6286500" y="2671167"/>
            <a:ext cx="54006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B433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Ek Donanımsız Kızılötesi Katkısı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286500" y="3128367"/>
            <a:ext cx="5143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Bitki fizyolojisinde yakın kızılötesi (NIR) bant yansıması, hastalıkların erken teşhisi için en kritik ayırt edici verilerden biridir.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286500" y="4073426"/>
            <a:ext cx="514350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Spektral</a:t>
            </a:r>
            <a:r>
              <a:rPr lang="en-US" sz="1275" b="1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Zenginleştirme</a:t>
            </a:r>
            <a:r>
              <a:rPr lang="en-US" sz="1275" b="1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Metodu</a:t>
            </a:r>
            <a:r>
              <a:rPr lang="en-US" sz="1275" b="1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RGB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kanalların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istatistiksel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bağıntılarıyla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pseudo-NIR bant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haritası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çıkarılmıştır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. Bu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ek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girdi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sayesinde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standart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RGB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modeline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kıyasla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%3-5 </a:t>
            </a:r>
            <a:r>
              <a:rPr lang="en-US" sz="1275" b="1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oranında</a:t>
            </a:r>
            <a:r>
              <a:rPr lang="en-US" sz="1275" b="1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performans</a:t>
            </a:r>
            <a:r>
              <a:rPr lang="en-US" sz="1275" b="1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artışı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elde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edilmiştir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1650" y="2257425"/>
            <a:ext cx="31242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Pseudo-NIR Spektral Analiz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762000" y="3028950"/>
            <a:ext cx="51435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>
                <a:solidFill>
                  <a:srgbClr val="40916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71 KB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62000" y="4362450"/>
            <a:ext cx="5143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U-Net TFLite Model Boyutu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286500" y="2465486"/>
            <a:ext cx="54006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B433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INT8 Hassasiyetinde Kuantizasyon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286500" y="2922686"/>
            <a:ext cx="5143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Eğitilen derin öğrenme modelleri mobil platformlarda çalışabilmesi adına kuantizasyon işlemine tabi tutulmuştur: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286500" y="4512766"/>
            <a:ext cx="5143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Hedeflenen 10 MB limitinin fazlasıyla altında kalınarak bellek optimizasyonunda üstünlük sağlanmıştır.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381750" y="359396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477000" y="3593008"/>
            <a:ext cx="49530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U-Net Modeli:</a:t>
            </a: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741 KB (.h5) → 71 KB (.tflite)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381750" y="385292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477000" y="3851969"/>
            <a:ext cx="49530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Pseudo-NIR Modeli:</a:t>
            </a: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1793 KB (.h5) → 158 KB (.tflite)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381750" y="411188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477000" y="4110930"/>
            <a:ext cx="49530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Toplam Mobil Boyut:</a:t>
            </a: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Sadece 229 KB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 Model Optimizasyonu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52550"/>
            <a:ext cx="10668000" cy="49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3043237" y="5114925"/>
            <a:ext cx="6105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40916C"/>
                </a:solidFill>
                <a:latin typeface="Inter"/>
                <a:ea typeface="Inter"/>
                <a:cs typeface="Inter"/>
                <a:sym typeface="Inter"/>
              </a:rPr>
              <a:t>Test veri seti genelinde %88.2 Dice katsayısı ve %79.5 mIoU skoru başarıyla yakalanmıştır.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Segmentasyon Başarısı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9775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762000" y="2430363"/>
            <a:ext cx="51435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Cihaz Üzerinde (On-Device) Çalışma: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2832199"/>
            <a:ext cx="5143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Uygulama, veri gizliliğini korumak ve çevrimdışı çalışabilmek adına hiçbir sunucu ya da bulut işlemine ihtiyaç duymaz.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57250" y="350347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952500" y="3502521"/>
            <a:ext cx="49530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Android CameraX API:</a:t>
            </a: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Akıştan anlık görüntü yakalama ve optimize edilmiş ön işleme.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57250" y="402139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952500" y="4020442"/>
            <a:ext cx="49530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Anlık Analiz Ekranı:</a:t>
            </a: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Canlı maskeleme, hastalık yüzdesi hesaplama (örn: %48.4).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57250" y="453931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952500" y="4538364"/>
            <a:ext cx="49530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SQLite Veritabanı:</a:t>
            </a: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Geçmiş test sonuçlarını tarih ve konumla kaydetme.</a:t>
            </a:r>
            <a:endParaRPr/>
          </a:p>
        </p:txBody>
      </p:sp>
      <p:pic>
        <p:nvPicPr>
          <p:cNvPr id="216" name="Google Shape;21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47875"/>
            <a:ext cx="50673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 Uygulama ve Sistem Akışı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1762125" y="2307431"/>
            <a:ext cx="90963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Çoklu Hastalık ve Bitki Türü Desteği:</a:t>
            </a: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Modelin farklı bitki türlerini ve çoklu enfeksiyon sınıflarını aynı anda tanıyacak şekilde eğitilmesi.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762125" y="3063478"/>
            <a:ext cx="9096375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Gerçek</a:t>
            </a:r>
            <a:r>
              <a:rPr lang="en-US" sz="1275" b="1" i="0" u="none" strike="noStrike" cap="none" dirty="0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Cihaz</a:t>
            </a:r>
            <a:r>
              <a:rPr lang="en-US" sz="1275" b="1" i="0" u="none" strike="noStrike" cap="none" dirty="0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Donanım</a:t>
            </a:r>
            <a:r>
              <a:rPr lang="en-US" sz="1275" b="1" i="0" u="none" strike="noStrike" cap="none" dirty="0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Testleri</a:t>
            </a:r>
            <a:r>
              <a:rPr lang="en-US" sz="1275" b="1" i="0" u="none" strike="noStrike" cap="none" dirty="0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Android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emülatördeki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15-18 FPS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başarısının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gerçek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mobil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donanımdaki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tr-TR" sz="1275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RA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M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işlemci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termal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kısıtlar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yansımasının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ölçülmesi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26" name="Google Shape;226;p22"/>
          <p:cNvSpPr txBox="1"/>
          <p:nvPr/>
        </p:nvSpPr>
        <p:spPr>
          <a:xfrm>
            <a:off x="1762125" y="3819525"/>
            <a:ext cx="90963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Saha Testleri ve Aydınlatma Dayanımı:</a:t>
            </a:r>
            <a:r>
              <a:rPr lang="en-US" sz="12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Farklı dış ortam gün ışığı koşullarında model kararlılığının ölçümlenmesi ve iyileştirilmesi.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1762125" y="4575571"/>
            <a:ext cx="90963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Doğrudan</a:t>
            </a:r>
            <a:r>
              <a:rPr lang="en-US" sz="1275" b="1" i="0" u="none" strike="noStrike" cap="none" dirty="0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Spektral</a:t>
            </a:r>
            <a:r>
              <a:rPr lang="en-US" sz="1275" b="1" i="0" u="none" strike="noStrike" cap="none" dirty="0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Kalite</a:t>
            </a:r>
            <a:r>
              <a:rPr lang="en-US" sz="1275" b="1" i="0" u="none" strike="noStrike" cap="none" dirty="0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Ölçümü</a:t>
            </a:r>
            <a:r>
              <a:rPr lang="en-US" sz="1275" b="1" i="0" u="none" strike="noStrike" cap="none" dirty="0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Pseudo-NIR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bandının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kalitesini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ölçmek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üzere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SSIM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tabanlı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karşılaştırmaların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gerçekleştirilmesi</a:t>
            </a:r>
            <a:r>
              <a:rPr lang="en-US" sz="1275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28" name="Google Shape;2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8750" y="23312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28750" y="3087290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8750" y="38433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28750" y="4599384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Gelecek Geliştirme Planları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9462" y="3853904"/>
            <a:ext cx="5553075" cy="122083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495300" y="1783258"/>
            <a:ext cx="11201400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Teşekkür Ederiz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762000" y="2869108"/>
            <a:ext cx="1066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4800600" y="3853904"/>
            <a:ext cx="25908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Fatih Taşkın &amp; Hazan Ezgi Erçin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4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/>
          <p:nvPr/>
        </p:nvSpPr>
        <p:spPr>
          <a:xfrm>
            <a:off x="2166937" y="2647057"/>
            <a:ext cx="785812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2166937" y="3431827"/>
            <a:ext cx="785812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2166937" y="3422302"/>
            <a:ext cx="7858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2166937" y="3422302"/>
            <a:ext cx="7858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2166937" y="4207073"/>
            <a:ext cx="7858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2166937" y="4207073"/>
            <a:ext cx="7858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6937" y="27964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3262312" y="2789932"/>
            <a:ext cx="67627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https://www.frontiersin.org/files/Articles/1031748/xml-images/fpls-13-1031748-g008.webp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3262312" y="3035647"/>
            <a:ext cx="6762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www.frontiersin.org</a:t>
            </a:r>
            <a:endParaRPr/>
          </a:p>
        </p:txBody>
      </p:sp>
      <p:pic>
        <p:nvPicPr>
          <p:cNvPr id="257" name="Google Shape;2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6937" y="35812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3262312" y="3574702"/>
            <a:ext cx="67627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https://www.frontiersin.org/files/Articles/1564079/xml-images/fpls-16-1564079-g001.webp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3262312" y="3820417"/>
            <a:ext cx="6762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www.frontiersin.org</a:t>
            </a:r>
            <a:endParaRPr/>
          </a:p>
        </p:txBody>
      </p:sp>
      <p:pic>
        <p:nvPicPr>
          <p:cNvPr id="260" name="Google Shape;26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66937" y="43660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3262312" y="4359473"/>
            <a:ext cx="67627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https://www.mdpi.com/agriculture/agriculture-12-01886/article_deploy/html/images/agriculture-12-01886-g001.png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3262312" y="4748063"/>
            <a:ext cx="6762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www.mdpi.com</a:t>
            </a:r>
            <a:endParaRPr dirty="0"/>
          </a:p>
        </p:txBody>
      </p:sp>
      <p:sp>
        <p:nvSpPr>
          <p:cNvPr id="263" name="Google Shape;263;p24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</Words>
  <Application>Microsoft Office PowerPoint</Application>
  <PresentationFormat>Geniş ekran</PresentationFormat>
  <Paragraphs>86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9" baseType="lpstr">
      <vt:lpstr>Arial</vt:lpstr>
      <vt:lpstr>Plus Jakarta Sans</vt:lpstr>
      <vt:lpstr>Plus Jakarta Sans SemiBold</vt:lpstr>
      <vt:lpstr>Inter SemiBold</vt:lpstr>
      <vt:lpstr>Calibri</vt:lpstr>
      <vt:lpstr>Inter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fatih taşkın</cp:lastModifiedBy>
  <cp:revision>1</cp:revision>
  <dcterms:modified xsi:type="dcterms:W3CDTF">2026-06-24T09:15:21Z</dcterms:modified>
</cp:coreProperties>
</file>